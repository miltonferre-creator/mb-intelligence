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2743200"/>
            <a:ext cx="6949440" cy="6949440"/>
          </a:xfrm>
          <a:prstGeom prst="ellipse">
            <a:avLst/>
          </a:prstGeom>
          <a:solidFill>
            <a:srgbClr val="5B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48640"/>
            <a:ext cx="2377440" cy="44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6400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0D6D8"/>
                </a:solidFill>
                <a:latin typeface="Calibri"/>
              </a:rPr>
              <a:t>APRESENTAÇÃO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0D6D8"/>
                </a:solidFill>
                <a:latin typeface="Calibri"/>
              </a:rPr>
              <a:t>INSTITUCIONAL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8A8AB"/>
                </a:solidFill>
                <a:latin typeface="Calibri"/>
              </a:rP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9B9BC"/>
                </a:solidFill>
                <a:latin typeface="Calibri"/>
              </a:rPr>
              <a:t>PLATAFORMA DE CONTABILIDADE INTELIGENTE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200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MB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0D6D8"/>
                </a:solidFill>
                <a:latin typeface="Calibri"/>
              </a:rPr>
              <a:t>A contabilidade que vira </a:t>
            </a:r>
            <a:r>
              <a:rPr sz="2000" b="1">
                <a:solidFill>
                  <a:srgbClr val="FFFFFF"/>
                </a:solidFill>
                <a:latin typeface="Calibri"/>
              </a:rPr>
              <a:t>inteligência</a:t>
            </a:r>
            <a:r>
              <a:rPr sz="2000" b="0">
                <a:solidFill>
                  <a:srgbClr val="F0D6D8"/>
                </a:solidFill>
                <a:latin typeface="Calibri"/>
              </a:rPr>
              <a:t> para o seu negócio.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40680"/>
            <a:ext cx="1467612" cy="310896"/>
          </a:xfrm>
          <a:prstGeom prst="roundRect">
            <a:avLst>
              <a:gd name="adj" fmla="val 50000"/>
            </a:avLst>
          </a:prstGeom>
          <a:solidFill>
            <a:srgbClr val="24262D"/>
          </a:solidFill>
          <a:ln w="12700">
            <a:solidFill>
              <a:srgbClr val="3A3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4676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Portal do cliente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7420" y="5440680"/>
            <a:ext cx="1700784" cy="310896"/>
          </a:xfrm>
          <a:prstGeom prst="roundRect">
            <a:avLst>
              <a:gd name="adj" fmla="val 50000"/>
            </a:avLst>
          </a:prstGeom>
          <a:solidFill>
            <a:srgbClr val="24262D"/>
          </a:solidFill>
          <a:ln w="12700">
            <a:solidFill>
              <a:srgbClr val="3A3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7420" y="5440680"/>
            <a:ext cx="17007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Dashboard financeiro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7932" y="5440680"/>
            <a:ext cx="1545336" cy="310896"/>
          </a:xfrm>
          <a:prstGeom prst="roundRect">
            <a:avLst>
              <a:gd name="adj" fmla="val 50000"/>
            </a:avLst>
          </a:prstGeom>
          <a:solidFill>
            <a:srgbClr val="24262D"/>
          </a:solidFill>
          <a:ln w="12700">
            <a:solidFill>
              <a:srgbClr val="3A3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7932" y="5440680"/>
            <a:ext cx="15453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Documentos &amp; guias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82996" y="54406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4262D"/>
          </a:solidFill>
          <a:ln w="12700">
            <a:solidFill>
              <a:srgbClr val="3A3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2996" y="5440680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Score de saúde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27164" y="5440680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24262D"/>
          </a:solidFill>
          <a:ln w="12700">
            <a:solidFill>
              <a:srgbClr val="3A3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7164" y="5440680"/>
            <a:ext cx="17785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Acompanhamento humano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636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3A2"/>
                </a:solidFill>
                <a:latin typeface="Calibri"/>
              </a:rPr>
              <a:t>Documento de apresentação e manual da plataforma — referência para divulgação, site e redes sociais.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F121B"/>
                </a:solidFill>
                <a:latin typeface="Calibri"/>
              </a:rPr>
              <a:t>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51B"/>
                </a:solidFill>
                <a:latin typeface="Calibri"/>
              </a:rPr>
              <a:t>Sua contabilidade e a saúde financeira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51B"/>
                </a:solidFill>
                <a:latin typeface="Calibri"/>
              </a:rPr>
              <a:t>da empresa, no mesmo lugar.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4151B"/>
                </a:solidFill>
                <a:latin typeface="Calibri"/>
              </a:rPr>
              <a:t>A </a:t>
            </a:r>
            <a:r>
              <a:rPr sz="1300" b="1">
                <a:solidFill>
                  <a:srgbClr val="14151B"/>
                </a:solidFill>
                <a:latin typeface="Calibri"/>
              </a:rPr>
              <a:t>MB Intelligence</a:t>
            </a:r>
            <a:r>
              <a:rPr sz="1300" b="0">
                <a:solidFill>
                  <a:srgbClr val="14151B"/>
                </a:solidFill>
                <a:latin typeface="Calibri"/>
              </a:rPr>
              <a:t> é a plataforma digital da </a:t>
            </a:r>
            <a:r>
              <a:rPr sz="1300" b="1">
                <a:solidFill>
                  <a:srgbClr val="14151B"/>
                </a:solidFill>
                <a:latin typeface="Calibri"/>
              </a:rPr>
              <a:t>MB Assessoria Empresarial</a:t>
            </a:r>
            <a:r>
              <a:rPr sz="1300" b="0">
                <a:solidFill>
                  <a:srgbClr val="14151B"/>
                </a:solidFill>
                <a:latin typeface="Calibri"/>
              </a:rPr>
              <a:t>. Ela reúne, num só portal, tudo o que a sua empresa precisa.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573"/>
                </a:solidFill>
                <a:latin typeface="Calibri"/>
              </a:rPr>
              <a:t>Os </a:t>
            </a:r>
            <a:r>
              <a:rPr sz="1300" b="1">
                <a:solidFill>
                  <a:srgbClr val="8F121B"/>
                </a:solidFill>
                <a:latin typeface="Calibri"/>
              </a:rPr>
              <a:t>documentos e guias</a:t>
            </a:r>
            <a:r>
              <a:rPr sz="1300" b="0">
                <a:solidFill>
                  <a:srgbClr val="5B6573"/>
                </a:solidFill>
                <a:latin typeface="Calibri"/>
              </a:rPr>
              <a:t> que a contabilidade emite e a </a:t>
            </a:r>
            <a:r>
              <a:rPr sz="1300" b="1">
                <a:solidFill>
                  <a:srgbClr val="8F121B"/>
                </a:solidFill>
                <a:latin typeface="Calibri"/>
              </a:rPr>
              <a:t>leitura financeira</a:t>
            </a:r>
            <a:r>
              <a:rPr sz="1300" b="0">
                <a:solidFill>
                  <a:srgbClr val="5B6573"/>
                </a:solidFill>
                <a:latin typeface="Calibri"/>
              </a:rPr>
              <a:t> do negócio — quanto faturou, quanto sobrou e como está a saúde da empresa, mês a mês.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573"/>
                </a:solidFill>
                <a:latin typeface="Calibri"/>
              </a:rPr>
              <a:t>Em vez de arquivos soltos por e-mail e WhatsApp, o cliente entra num portal organizado, com a informação na linguagem do dono.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103120"/>
            <a:ext cx="4297680" cy="1207008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226771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5B070B"/>
                </a:solidFill>
                <a:latin typeface="Calibri"/>
              </a:rPr>
              <a:t>1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77977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Documentos, guias, indicadores e comunicação num único acesso.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474720"/>
            <a:ext cx="4297680" cy="1207008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363931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5B070B"/>
                </a:solidFill>
                <a:latin typeface="Calibri"/>
              </a:rPr>
              <a:t>Tempo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15137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Faturamento, resultado, margem e caixa por competência.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846320"/>
            <a:ext cx="4297680" cy="1207008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1091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5B070B"/>
                </a:solidFill>
                <a:latin typeface="Calibri"/>
              </a:rPr>
              <a:t>0 a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52297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Um Score MB que resume a saúde financeira numa nota.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92040"/>
            <a:ext cx="356616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51206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510235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Portal do cliente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522976"/>
            <a:ext cx="3063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573"/>
                </a:solidFill>
                <a:latin typeface="Calibri"/>
              </a:rPr>
              <a:t>Início objetivo com pendências, último documento e resumo em 5 segundos.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8264" y="4892040"/>
            <a:ext cx="356616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54296" y="51206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1496" y="510235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Dashboard de inteligência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5522976"/>
            <a:ext cx="3063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573"/>
                </a:solidFill>
                <a:latin typeface="Calibri"/>
              </a:rPr>
              <a:t>KPIs, evolução de receita e despesa, fluxo de caixa e Score de saúde.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4892040"/>
            <a:ext cx="356616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19" y="51206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19" y="510235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Documentos &amp; guias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5522976"/>
            <a:ext cx="3063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573"/>
                </a:solidFill>
                <a:latin typeface="Calibri"/>
              </a:rPr>
              <a:t>Tudo o que a MB publica — fiscal, folha, contábil — por competência.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8F121B"/>
                </a:solidFill>
                <a:latin typeface="Calibri"/>
              </a:rPr>
              <a:t>MB Intelligence</a:t>
            </a:r>
            <a:r>
              <a:rPr sz="1000" b="0">
                <a:solidFill>
                  <a:srgbClr val="8A93A2"/>
                </a:solidFill>
                <a:latin typeface="Calibri"/>
              </a:rPr>
              <a:t> · O que 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3A2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F121B"/>
                </a:solidFill>
                <a:latin typeface="Calibri"/>
              </a:rPr>
              <a:t>POR QUE EXISTIMOS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4151B"/>
                </a:solidFill>
                <a:latin typeface="Calibri"/>
              </a:rPr>
              <a:t>O dono de PME decide no escuro. A gente acende a luz.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42318"/>
                </a:solidFill>
                <a:latin typeface="Calibri"/>
              </a:rPr>
              <a:t>O PROBLEMA DE HOJE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249424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Contabilidade vira só obrigação.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Guia para pagar, balanço no fim do ano. Nada que ajude a decidir.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27248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090672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Informação espalhada.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Documentos no e-mail, guias no WhatsApp, planilha no escritório.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68496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93192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Linguagem de contador.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O dono não sabe, num olhar, se o mês foi bom ou ruim.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0974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77316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Reação, nunca antecipação.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Os problemas aparecem quando o caixa já apertou.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805C"/>
                </a:solidFill>
                <a:latin typeface="Calibri"/>
              </a:rPr>
              <a:t>A SOLUÇÃO MB 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28600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128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2249424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Obrigação + inteligência.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Entregamos a guia E a leitura do mês: faturou, lucrou, tem em caixa.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27248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128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3090672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Tudo num portal.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Documentos, guias, indicadores e comunicação num acesso seguro.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968496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128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393192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Linguagem do dono.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Números traduzidos. Um Score de 0 a 100 resume a saúde.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80974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128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477316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Acompanhamento mensal.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Fechamento todo mês, com um consultor humano de verdade.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8F121B"/>
                </a:solidFill>
                <a:latin typeface="Calibri"/>
              </a:rPr>
              <a:t>MB Intelligence</a:t>
            </a:r>
            <a:r>
              <a:rPr sz="1000" b="0">
                <a:solidFill>
                  <a:srgbClr val="8A93A2"/>
                </a:solidFill>
                <a:latin typeface="Calibri"/>
              </a:rPr>
              <a:t> · Por que existimos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3A2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F121B"/>
                </a:solidFill>
                <a:latin typeface="Calibri"/>
              </a:rPr>
              <a:t>PARA QUEM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4151B"/>
                </a:solidFill>
                <a:latin typeface="Calibri"/>
              </a:rPr>
              <a:t>Feita para a pequena e média empresa brasileira.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3611880" cy="292608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4E7ED"/>
            </a:solidFill>
          </a:ln>
          <a:effectLst/>
          <a:effectLst>
            <a:outerShdw blurRad="180000" dist="90000" dir="5400000" rotWithShape="0">
              <a:srgbClr val="1013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51460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151B"/>
                </a:solidFill>
                <a:latin typeface="Calibri"/>
              </a:rPr>
              <a:t>Pequenas e médias empresas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573"/>
                </a:solidFill>
                <a:latin typeface="Calibri"/>
              </a:rPr>
              <a:t>Simples Nacional e Lucro Presumido — comércio, serviços, saúde e profissionais liberais.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2148840"/>
            <a:ext cx="3611880" cy="292608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4E7ED"/>
            </a:solidFill>
          </a:ln>
          <a:effectLst/>
          <a:effectLst>
            <a:outerShdw blurRad="180000" dist="90000" dir="5400000" rotWithShape="0">
              <a:srgbClr val="1013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37176" y="251460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7176" y="338328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151B"/>
                </a:solidFill>
                <a:latin typeface="Calibri"/>
              </a:rPr>
              <a:t>Donos que querem clareza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416052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573"/>
                </a:solidFill>
                <a:latin typeface="Calibri"/>
              </a:rPr>
              <a:t>Quem cansou de “só a guia” e quer enxergar a saúde do negócio sem virar contador.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94192" y="2148840"/>
            <a:ext cx="3611880" cy="292608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4E7ED"/>
            </a:solidFill>
          </a:ln>
          <a:effectLst/>
          <a:effectLst>
            <a:outerShdw blurRad="180000" dist="90000" dir="5400000" rotWithShape="0">
              <a:srgbClr val="1013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59952" y="251460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338328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151B"/>
                </a:solidFill>
                <a:latin typeface="Calibri"/>
              </a:rPr>
              <a:t>Quem vai trocar de contador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416052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573"/>
                </a:solidFill>
                <a:latin typeface="Calibri"/>
              </a:rPr>
              <a:t>A MB cuida de toda a migração — sem custo adicional e sem dor de cabeça.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8F121B"/>
                </a:solidFill>
                <a:latin typeface="Calibri"/>
              </a:rPr>
              <a:t>MB Intelligence</a:t>
            </a:r>
            <a:r>
              <a:rPr sz="1000" b="0">
                <a:solidFill>
                  <a:srgbClr val="8A93A2"/>
                </a:solidFill>
                <a:latin typeface="Calibri"/>
              </a:rPr>
              <a:t> · Para quem 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3A2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F121B"/>
                </a:solidFill>
                <a:latin typeface="Calibri"/>
              </a:rPr>
              <a:t>FUNCIONALIDADE · PORTAL DO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4151B"/>
                </a:solidFill>
                <a:latin typeface="Calibri"/>
              </a:rPr>
              <a:t>A empresa abre o portal e entende o mês em segundos.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6583680" cy="4617720"/>
          </a:xfrm>
          <a:prstGeom prst="roundRect">
            <a:avLst>
              <a:gd name="adj" fmla="val 3500"/>
            </a:avLst>
          </a:prstGeom>
          <a:solidFill>
            <a:srgbClr val="101116"/>
          </a:solidFill>
          <a:ln>
            <a:noFill/>
          </a:ln>
          <a:effectLst/>
          <a:effectLst>
            <a:outerShdw blurRad="180000" dist="90000" dir="5400000" rotWithShape="0">
              <a:srgbClr val="1013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645920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1645920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645920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572768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3A2"/>
                </a:solidFill>
                <a:latin typeface="Calibri"/>
              </a:rPr>
              <a:t>mb-intelligence · Início do cliente</a:t>
            </a:r>
          </a:p>
        </p:txBody>
      </p:sp>
      <p:pic>
        <p:nvPicPr>
          <p:cNvPr id="10" name="Picture 9" descr="screen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10512"/>
            <a:ext cx="6492240" cy="4283075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360920" y="1874519"/>
            <a:ext cx="292608" cy="292608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1544" y="1856231"/>
            <a:ext cx="3877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4151B"/>
                </a:solidFill>
                <a:latin typeface="Calibri"/>
              </a:rPr>
              <a:t>Pendências do mês em destaque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573"/>
                </a:solidFill>
                <a:latin typeface="Calibri"/>
              </a:rPr>
              <a:t>O que aguarda o cliente ou a MB, logo no topo.</a:t>
            </a:r>
          </a:p>
        </p:txBody>
      </p:sp>
      <p:sp>
        <p:nvSpPr>
          <p:cNvPr id="13" name="Oval 12"/>
          <p:cNvSpPr/>
          <p:nvPr/>
        </p:nvSpPr>
        <p:spPr>
          <a:xfrm>
            <a:off x="7360920" y="2898648"/>
            <a:ext cx="292608" cy="292608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2880360"/>
            <a:ext cx="3877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4151B"/>
                </a:solidFill>
                <a:latin typeface="Calibri"/>
              </a:rPr>
              <a:t>Último documento liberado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573"/>
                </a:solidFill>
                <a:latin typeface="Calibri"/>
              </a:rPr>
              <a:t>Com selo de vencimento — nunca perca uma guia.</a:t>
            </a:r>
          </a:p>
        </p:txBody>
      </p:sp>
      <p:sp>
        <p:nvSpPr>
          <p:cNvPr id="15" name="Oval 14"/>
          <p:cNvSpPr/>
          <p:nvPr/>
        </p:nvSpPr>
        <p:spPr>
          <a:xfrm>
            <a:off x="7360920" y="3922776"/>
            <a:ext cx="292608" cy="292608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3904488"/>
            <a:ext cx="3877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4151B"/>
                </a:solidFill>
                <a:latin typeface="Calibri"/>
              </a:rPr>
              <a:t>Resumo financeiro imediato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573"/>
                </a:solidFill>
                <a:latin typeface="Calibri"/>
              </a:rPr>
              <a:t>Faturou, resultado, em caixa e margem em 5 segundos.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4946904"/>
            <a:ext cx="292608" cy="292608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928616"/>
            <a:ext cx="3877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4151B"/>
                </a:solidFill>
                <a:latin typeface="Calibri"/>
              </a:rPr>
              <a:t>Ações rápidas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573"/>
                </a:solidFill>
                <a:latin typeface="Calibri"/>
              </a:rPr>
              <a:t>Documentos, falar com a MB e dashboard num clique.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8F121B"/>
                </a:solidFill>
                <a:latin typeface="Calibri"/>
              </a:rPr>
              <a:t>MB Intelligence</a:t>
            </a:r>
            <a:r>
              <a:rPr sz="1000" b="0">
                <a:solidFill>
                  <a:srgbClr val="8A93A2"/>
                </a:solidFill>
                <a:latin typeface="Calibri"/>
              </a:rPr>
              <a:t> · Portal do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3A2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F121B"/>
                </a:solidFill>
                <a:latin typeface="Calibri"/>
              </a:rPr>
              <a:t>FUNCIONALIDADE · DASHBOARD DE INTELIGÊNCIA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4151B"/>
                </a:solidFill>
                <a:latin typeface="Calibri"/>
              </a:rPr>
              <a:t>A saúde financeira do negócio numa só tela.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6858000" cy="4798695"/>
          </a:xfrm>
          <a:prstGeom prst="roundRect">
            <a:avLst>
              <a:gd name="adj" fmla="val 3500"/>
            </a:avLst>
          </a:prstGeom>
          <a:solidFill>
            <a:srgbClr val="101116"/>
          </a:solidFill>
          <a:ln>
            <a:noFill/>
          </a:ln>
          <a:effectLst/>
          <a:effectLst>
            <a:outerShdw blurRad="180000" dist="90000" dir="5400000" rotWithShape="0">
              <a:srgbClr val="1013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600200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1600200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600200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527048"/>
            <a:ext cx="5943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3A2"/>
                </a:solidFill>
                <a:latin typeface="Calibri"/>
              </a:rPr>
              <a:t>mb-intelligence · Dashboard</a:t>
            </a:r>
          </a:p>
        </p:txBody>
      </p:sp>
      <p:pic>
        <p:nvPicPr>
          <p:cNvPr id="10" name="Picture 9" descr="scree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64792"/>
            <a:ext cx="6766560" cy="446405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635240" y="1828800"/>
            <a:ext cx="292608" cy="292608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5864" y="1810512"/>
            <a:ext cx="36027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4151B"/>
                </a:solidFill>
                <a:latin typeface="Calibri"/>
              </a:rPr>
              <a:t>Indicadores-chave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573"/>
                </a:solidFill>
                <a:latin typeface="Calibri"/>
              </a:rPr>
              <a:t>Faturamento, resultado, impostos e Score, com variação mensal.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2907791"/>
            <a:ext cx="292608" cy="292608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5864" y="2889503"/>
            <a:ext cx="36027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4151B"/>
                </a:solidFill>
                <a:latin typeface="Calibri"/>
              </a:rPr>
              <a:t>Receita × despesa × resultado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573"/>
                </a:solidFill>
                <a:latin typeface="Calibri"/>
              </a:rPr>
              <a:t>Linha temporal interativa por competência.</a:t>
            </a:r>
          </a:p>
        </p:txBody>
      </p:sp>
      <p:sp>
        <p:nvSpPr>
          <p:cNvPr id="15" name="Oval 14"/>
          <p:cNvSpPr/>
          <p:nvPr/>
        </p:nvSpPr>
        <p:spPr>
          <a:xfrm>
            <a:off x="7635240" y="3986783"/>
            <a:ext cx="292608" cy="292608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3968496"/>
            <a:ext cx="36027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4151B"/>
                </a:solidFill>
                <a:latin typeface="Calibri"/>
              </a:rPr>
              <a:t>Score de saúde (0–100)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573"/>
                </a:solidFill>
                <a:latin typeface="Calibri"/>
              </a:rPr>
              <a:t>6 dimensões: liquidez, rentabilidade, endividamento e mais.</a:t>
            </a:r>
          </a:p>
        </p:txBody>
      </p:sp>
      <p:sp>
        <p:nvSpPr>
          <p:cNvPr id="17" name="Oval 16"/>
          <p:cNvSpPr/>
          <p:nvPr/>
        </p:nvSpPr>
        <p:spPr>
          <a:xfrm>
            <a:off x="7635240" y="5065775"/>
            <a:ext cx="292608" cy="292608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5047488"/>
            <a:ext cx="36027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4151B"/>
                </a:solidFill>
                <a:latin typeface="Calibri"/>
              </a:rPr>
              <a:t>Leitura inteligente da MB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573"/>
                </a:solidFill>
                <a:latin typeface="Calibri"/>
              </a:rPr>
              <a:t>Um texto curto que explica o mês e o próximo passo.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8F121B"/>
                </a:solidFill>
                <a:latin typeface="Calibri"/>
              </a:rPr>
              <a:t>MB Intelligence</a:t>
            </a:r>
            <a:r>
              <a:rPr sz="1000" b="0">
                <a:solidFill>
                  <a:srgbClr val="8A93A2"/>
                </a:solidFill>
                <a:latin typeface="Calibri"/>
              </a:rPr>
              <a:t> · Dashboard de inteligência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3A2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F121B"/>
                </a:solidFill>
                <a:latin typeface="Calibri"/>
              </a:rPr>
              <a:t>BASTIDORES · A OPERAÇÃO DA 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4151B"/>
                </a:solidFill>
                <a:latin typeface="Calibri"/>
              </a:rPr>
              <a:t>Por trás do portal, um fluxo de trabalho organizado.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6583680" cy="4617720"/>
          </a:xfrm>
          <a:prstGeom prst="roundRect">
            <a:avLst>
              <a:gd name="adj" fmla="val 3500"/>
            </a:avLst>
          </a:prstGeom>
          <a:solidFill>
            <a:srgbClr val="101116"/>
          </a:solidFill>
          <a:ln>
            <a:noFill/>
          </a:ln>
          <a:effectLst/>
          <a:effectLst>
            <a:outerShdw blurRad="180000" dist="90000" dir="5400000" rotWithShape="0">
              <a:srgbClr val="1013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645920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1645920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645920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572768"/>
            <a:ext cx="5669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3A2"/>
                </a:solidFill>
                <a:latin typeface="Calibri"/>
              </a:rPr>
              <a:t>mb-intelligence · Operação MB (interno)</a:t>
            </a:r>
          </a:p>
        </p:txBody>
      </p:sp>
      <p:pic>
        <p:nvPicPr>
          <p:cNvPr id="10" name="Picture 9" descr="screen-ope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10512"/>
            <a:ext cx="6492240" cy="4283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0920" y="178308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573"/>
                </a:solidFill>
                <a:latin typeface="Calibri"/>
              </a:rPr>
              <a:t>A equipe MB opera cada cliente por um painel próprio: cadastra, alimenta os dados, publica os documentos e entrega tudo no portal.</a:t>
            </a:r>
          </a:p>
        </p:txBody>
      </p:sp>
      <p:sp>
        <p:nvSpPr>
          <p:cNvPr id="12" name="Oval 11"/>
          <p:cNvSpPr/>
          <p:nvPr/>
        </p:nvSpPr>
        <p:spPr>
          <a:xfrm>
            <a:off x="7360920" y="3017520"/>
            <a:ext cx="292608" cy="292608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2999232"/>
            <a:ext cx="3877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4151B"/>
                </a:solidFill>
                <a:latin typeface="Calibri"/>
              </a:rPr>
              <a:t>Cadastrar &amp; ativar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573"/>
                </a:solidFill>
                <a:latin typeface="Calibri"/>
              </a:rPr>
              <a:t>Dados validados e acesso liberado.</a:t>
            </a:r>
          </a:p>
        </p:txBody>
      </p:sp>
      <p:sp>
        <p:nvSpPr>
          <p:cNvPr id="14" name="Oval 13"/>
          <p:cNvSpPr/>
          <p:nvPr/>
        </p:nvSpPr>
        <p:spPr>
          <a:xfrm>
            <a:off x="7360920" y="4023360"/>
            <a:ext cx="292608" cy="292608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1544" y="4005072"/>
            <a:ext cx="3877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4151B"/>
                </a:solidFill>
                <a:latin typeface="Calibri"/>
              </a:rPr>
              <a:t>Alimentar &amp; publicar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573"/>
                </a:solidFill>
                <a:latin typeface="Calibri"/>
              </a:rPr>
              <a:t>Faturamento, impostos e documentos por competência.</a:t>
            </a:r>
          </a:p>
        </p:txBody>
      </p:sp>
      <p:sp>
        <p:nvSpPr>
          <p:cNvPr id="16" name="Oval 15"/>
          <p:cNvSpPr/>
          <p:nvPr/>
        </p:nvSpPr>
        <p:spPr>
          <a:xfrm>
            <a:off x="7360920" y="5029200"/>
            <a:ext cx="292608" cy="292608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5010912"/>
            <a:ext cx="3877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4151B"/>
                </a:solidFill>
                <a:latin typeface="Calibri"/>
              </a:rPr>
              <a:t>Entregar &amp; acompanhar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573"/>
                </a:solidFill>
                <a:latin typeface="Calibri"/>
              </a:rPr>
              <a:t>Tudo no portal, com tarefas e prazos à vista.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8F121B"/>
                </a:solidFill>
                <a:latin typeface="Calibri"/>
              </a:rPr>
              <a:t>MB Intelligence</a:t>
            </a:r>
            <a:r>
              <a:rPr sz="1000" b="0">
                <a:solidFill>
                  <a:srgbClr val="8A93A2"/>
                </a:solidFill>
                <a:latin typeface="Calibri"/>
              </a:rPr>
              <a:t> · Operação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3A2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F121B"/>
                </a:solidFill>
                <a:latin typeface="Calibri"/>
              </a:rPr>
              <a:t>COMO FUNCIONA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4151B"/>
                </a:solidFill>
                <a:latin typeface="Calibri"/>
              </a:rPr>
              <a:t>Um trabalho a quatro mãos: a MB e você.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573"/>
                </a:solidFill>
                <a:latin typeface="Calibri"/>
              </a:rPr>
              <a:t>A inteligência nasce de dados confiáveis. Por isso o trabalho é dividido com clareza.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349240" cy="33832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4E7ED"/>
            </a:solidFill>
          </a:ln>
          <a:effectLst/>
          <a:effectLst>
            <a:outerShdw blurRad="180000" dist="90000" dir="5400000" rotWithShape="0">
              <a:srgbClr val="1013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777240" cy="548640"/>
          </a:xfrm>
          <a:prstGeom prst="roundRect">
            <a:avLst>
              <a:gd name="adj" fmla="val 25000"/>
            </a:avLst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505456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4151B"/>
                </a:solidFill>
                <a:latin typeface="Calibri"/>
              </a:rPr>
              <a:t>O que a MB faz por você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64408"/>
            <a:ext cx="237744" cy="237744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209544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Apuração de impostos e faturamento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573"/>
                </a:solidFill>
                <a:latin typeface="Calibri"/>
              </a:rPr>
              <a:t>DAS, guias e obrigações calculadas e publicadas.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831335"/>
            <a:ext cx="237744" cy="237744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776472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Folha, fiscal e contábil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573"/>
                </a:solidFill>
                <a:latin typeface="Calibri"/>
              </a:rPr>
              <a:t>Documentos organizados por competência.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398264"/>
            <a:ext cx="237744" cy="237744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34340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Indicadores e Score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573"/>
                </a:solidFill>
                <a:latin typeface="Calibri"/>
              </a:rPr>
              <a:t>Margem, resultado, saúde financeira e leitura.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965192"/>
            <a:ext cx="237744" cy="237744"/>
          </a:xfrm>
          <a:prstGeom prst="ellipse">
            <a:avLst/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910328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Validação antes de publicar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573"/>
                </a:solidFill>
                <a:latin typeface="Calibri"/>
              </a:rPr>
              <a:t>Tudo revisado por gente antes de chegar a você.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94560"/>
            <a:ext cx="5349240" cy="33832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4E7ED"/>
            </a:solidFill>
          </a:ln>
          <a:effectLst/>
          <a:effectLst>
            <a:outerShdw blurRad="180000" dist="90000" dir="5400000" rotWithShape="0">
              <a:srgbClr val="1013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2468880"/>
            <a:ext cx="777240" cy="54864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505456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4151B"/>
                </a:solidFill>
                <a:latin typeface="Calibri"/>
              </a:rPr>
              <a:t>O que você contribui</a:t>
            </a:r>
          </a:p>
        </p:txBody>
      </p:sp>
      <p:sp>
        <p:nvSpPr>
          <p:cNvPr id="20" name="Oval 19"/>
          <p:cNvSpPr/>
          <p:nvPr/>
        </p:nvSpPr>
        <p:spPr>
          <a:xfrm>
            <a:off x="6675120" y="3264408"/>
            <a:ext cx="237744" cy="23774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209544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Despesas do negócio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573"/>
                </a:solidFill>
                <a:latin typeface="Calibri"/>
              </a:rPr>
              <a:t>O que entra e sai no dia a dia — só o dono conhece.</a:t>
            </a:r>
          </a:p>
        </p:txBody>
      </p:sp>
      <p:sp>
        <p:nvSpPr>
          <p:cNvPr id="22" name="Oval 21"/>
          <p:cNvSpPr/>
          <p:nvPr/>
        </p:nvSpPr>
        <p:spPr>
          <a:xfrm>
            <a:off x="6675120" y="3831335"/>
            <a:ext cx="237744" cy="23774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776472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Extratos para conciliação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573"/>
                </a:solidFill>
                <a:latin typeface="Calibri"/>
              </a:rPr>
              <a:t>Envio do extrato bancário, direto pelo portal.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4398264"/>
            <a:ext cx="237744" cy="23774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434340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Contexto do mês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573"/>
                </a:solidFill>
                <a:latin typeface="Calibri"/>
              </a:rPr>
              <a:t>Uma venda grande, um investimento, uma sazonalidade.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4965192"/>
            <a:ext cx="237744" cy="23774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910328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4151B"/>
                </a:solidFill>
                <a:latin typeface="Calibri"/>
              </a:rPr>
              <a:t>Poucos minutos por mês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573"/>
                </a:solidFill>
                <a:latin typeface="Calibri"/>
              </a:rPr>
              <a:t>O portal guia o que falta. Sem planilha.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60720"/>
            <a:ext cx="11091672" cy="713232"/>
          </a:xfrm>
          <a:prstGeom prst="roundRect">
            <a:avLst>
              <a:gd name="adj" fmla="val 10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870448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 resultado: </a:t>
            </a:r>
            <a:r>
              <a:rPr sz="1250" b="0">
                <a:solidFill>
                  <a:srgbClr val="C7CCD6"/>
                </a:solidFill>
                <a:latin typeface="Calibri"/>
              </a:rPr>
              <a:t>dados confiáveis viram decisões melhores. Quanto melhor a informação, mais profunda é a análise que a MB devolve.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8F121B"/>
                </a:solidFill>
                <a:latin typeface="Calibri"/>
              </a:rPr>
              <a:t>MB Intelligence</a:t>
            </a:r>
            <a:r>
              <a:rPr sz="1000" b="0">
                <a:solidFill>
                  <a:srgbClr val="8A93A2"/>
                </a:solidFill>
                <a:latin typeface="Calibri"/>
              </a:rPr>
              <a:t> · Como funciona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3A2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F121B"/>
                </a:solidFill>
                <a:latin typeface="Calibri"/>
              </a:rPr>
              <a:t>O QUE NOS TORNA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4151B"/>
                </a:solidFill>
                <a:latin typeface="Calibri"/>
              </a:rPr>
              <a:t>Contabilidade tradicional </a:t>
            </a:r>
            <a:r>
              <a:rPr sz="2600" b="1">
                <a:solidFill>
                  <a:srgbClr val="E32732"/>
                </a:solidFill>
                <a:latin typeface="Calibri"/>
              </a:rPr>
              <a:t>×</a:t>
            </a:r>
            <a:r>
              <a:rPr sz="2600" b="1">
                <a:solidFill>
                  <a:srgbClr val="14151B"/>
                </a:solidFill>
                <a:latin typeface="Calibri"/>
              </a:rPr>
              <a:t> MB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CRITÉRIO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3008" y="1828800"/>
            <a:ext cx="3749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CONTABILIDADE TRADICIONAL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1828800"/>
            <a:ext cx="4050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MB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151B"/>
                </a:solidFill>
                <a:latin typeface="Calibri"/>
              </a:rPr>
              <a:t>Entrega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286000"/>
            <a:ext cx="3749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42318"/>
                </a:solidFill>
                <a:latin typeface="Calibri"/>
              </a:rPr>
              <a:t>✕  </a:t>
            </a:r>
            <a:r>
              <a:rPr sz="1100" b="0">
                <a:solidFill>
                  <a:srgbClr val="5B6573"/>
                </a:solidFill>
                <a:latin typeface="Calibri"/>
              </a:rPr>
              <a:t>Guia e balanço, por e-mail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2286000"/>
            <a:ext cx="40507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805C"/>
                </a:solidFill>
                <a:latin typeface="Calibri"/>
              </a:rPr>
              <a:t>✓  </a:t>
            </a:r>
            <a:r>
              <a:rPr sz="1100" b="1">
                <a:solidFill>
                  <a:srgbClr val="8F121B"/>
                </a:solidFill>
                <a:latin typeface="Calibri"/>
              </a:rPr>
              <a:t>Guia + inteligência financeira num 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11091672" cy="56692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52928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151B"/>
                </a:solidFill>
                <a:latin typeface="Calibri"/>
              </a:rPr>
              <a:t>Acesso à informação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852928"/>
            <a:ext cx="3749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42318"/>
                </a:solidFill>
                <a:latin typeface="Calibri"/>
              </a:rPr>
              <a:t>✕  </a:t>
            </a:r>
            <a:r>
              <a:rPr sz="1100" b="0">
                <a:solidFill>
                  <a:srgbClr val="5B6573"/>
                </a:solidFill>
                <a:latin typeface="Calibri"/>
              </a:rPr>
              <a:t>Espalhada em e-mail e 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2852928"/>
            <a:ext cx="40507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805C"/>
                </a:solidFill>
                <a:latin typeface="Calibri"/>
              </a:rPr>
              <a:t>✓  </a:t>
            </a:r>
            <a:r>
              <a:rPr sz="1100" b="1">
                <a:solidFill>
                  <a:srgbClr val="8F121B"/>
                </a:solidFill>
                <a:latin typeface="Calibri"/>
              </a:rPr>
              <a:t>Tudo num só lugar, por competência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419856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151B"/>
                </a:solidFill>
                <a:latin typeface="Calibri"/>
              </a:rPr>
              <a:t>Leitura financeira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3419856"/>
            <a:ext cx="3749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42318"/>
                </a:solidFill>
                <a:latin typeface="Calibri"/>
              </a:rPr>
              <a:t>✕  </a:t>
            </a:r>
            <a:r>
              <a:rPr sz="1100" b="0">
                <a:solidFill>
                  <a:srgbClr val="5B6573"/>
                </a:solidFill>
                <a:latin typeface="Calibri"/>
              </a:rPr>
              <a:t>Linguagem técnica de contador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3419856"/>
            <a:ext cx="40507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805C"/>
                </a:solidFill>
                <a:latin typeface="Calibri"/>
              </a:rPr>
              <a:t>✓  </a:t>
            </a:r>
            <a:r>
              <a:rPr sz="1100" b="1">
                <a:solidFill>
                  <a:srgbClr val="8F121B"/>
                </a:solidFill>
                <a:latin typeface="Calibri"/>
              </a:rPr>
              <a:t>Linguagem do dono + Score 0–100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91672" cy="56692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151B"/>
                </a:solidFill>
                <a:latin typeface="Calibri"/>
              </a:rPr>
              <a:t>Visão do negócio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3986784"/>
            <a:ext cx="3749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42318"/>
                </a:solidFill>
                <a:latin typeface="Calibri"/>
              </a:rPr>
              <a:t>✕  </a:t>
            </a:r>
            <a:r>
              <a:rPr sz="1100" b="0">
                <a:solidFill>
                  <a:srgbClr val="5B6573"/>
                </a:solidFill>
                <a:latin typeface="Calibri"/>
              </a:rPr>
              <a:t>Fecha uma vez por 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3986784"/>
            <a:ext cx="40507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805C"/>
                </a:solidFill>
                <a:latin typeface="Calibri"/>
              </a:rPr>
              <a:t>✓  </a:t>
            </a:r>
            <a:r>
              <a:rPr sz="1100" b="1">
                <a:solidFill>
                  <a:srgbClr val="8F121B"/>
                </a:solidFill>
                <a:latin typeface="Calibri"/>
              </a:rPr>
              <a:t>Dashboard atualizado todo mês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553712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151B"/>
                </a:solidFill>
                <a:latin typeface="Calibri"/>
              </a:rPr>
              <a:t>Postura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4553712"/>
            <a:ext cx="3749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42318"/>
                </a:solidFill>
                <a:latin typeface="Calibri"/>
              </a:rPr>
              <a:t>✕  </a:t>
            </a:r>
            <a:r>
              <a:rPr sz="1100" b="0">
                <a:solidFill>
                  <a:srgbClr val="5B6573"/>
                </a:solidFill>
                <a:latin typeface="Calibri"/>
              </a:rPr>
              <a:t>Reativa — corre atrás do problema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4553712"/>
            <a:ext cx="40507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805C"/>
                </a:solidFill>
                <a:latin typeface="Calibri"/>
              </a:rPr>
              <a:t>✓  </a:t>
            </a:r>
            <a:r>
              <a:rPr sz="1100" b="1">
                <a:solidFill>
                  <a:srgbClr val="8F121B"/>
                </a:solidFill>
                <a:latin typeface="Calibri"/>
              </a:rPr>
              <a:t>Consultiva — antecipa e orienta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1091672" cy="56692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120640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151B"/>
                </a:solidFill>
                <a:latin typeface="Calibri"/>
              </a:rPr>
              <a:t>Relacionamento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5120640"/>
            <a:ext cx="3749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42318"/>
                </a:solidFill>
                <a:latin typeface="Calibri"/>
              </a:rPr>
              <a:t>✕  </a:t>
            </a:r>
            <a:r>
              <a:rPr sz="1100" b="0">
                <a:solidFill>
                  <a:srgbClr val="5B6573"/>
                </a:solidFill>
                <a:latin typeface="Calibri"/>
              </a:rPr>
              <a:t>Contato só quando há pendência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5120640"/>
            <a:ext cx="40507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805C"/>
                </a:solidFill>
                <a:latin typeface="Calibri"/>
              </a:rPr>
              <a:t>✓  </a:t>
            </a:r>
            <a:r>
              <a:rPr sz="1100" b="1">
                <a:solidFill>
                  <a:srgbClr val="8F121B"/>
                </a:solidFill>
                <a:latin typeface="Calibri"/>
              </a:rPr>
              <a:t>Consultor humano e acompanhamento mensal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687568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151B"/>
                </a:solidFill>
                <a:latin typeface="Calibri"/>
              </a:rPr>
              <a:t>Transparência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5687568"/>
            <a:ext cx="3749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42318"/>
                </a:solidFill>
                <a:latin typeface="Calibri"/>
              </a:rPr>
              <a:t>✕  </a:t>
            </a:r>
            <a:r>
              <a:rPr sz="1100" b="0">
                <a:solidFill>
                  <a:srgbClr val="5B6573"/>
                </a:solidFill>
                <a:latin typeface="Calibri"/>
              </a:rPr>
              <a:t>Cliente não vê o trabalho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5687568"/>
            <a:ext cx="40507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805C"/>
                </a:solidFill>
                <a:latin typeface="Calibri"/>
              </a:rPr>
              <a:t>✓  </a:t>
            </a:r>
            <a:r>
              <a:rPr sz="1100" b="1">
                <a:solidFill>
                  <a:srgbClr val="8F121B"/>
                </a:solidFill>
                <a:latin typeface="Calibri"/>
              </a:rPr>
              <a:t>Cliente acompanha tarefas e prazos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1828800"/>
            <a:ext cx="11091672" cy="4425696"/>
          </a:xfrm>
          <a:prstGeom prst="rect">
            <a:avLst/>
          </a:prstGeom>
          <a:noFill/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151B"/>
                </a:solidFill>
                <a:latin typeface="Calibri"/>
              </a:rPr>
              <a:t>Outros escritórios entregam a </a:t>
            </a:r>
            <a:r>
              <a:rPr sz="1500" b="1">
                <a:solidFill>
                  <a:srgbClr val="8F121B"/>
                </a:solidFill>
                <a:latin typeface="Calibri"/>
              </a:rPr>
              <a:t>obrigação</a:t>
            </a:r>
            <a:r>
              <a:rPr sz="1500" b="1">
                <a:solidFill>
                  <a:srgbClr val="14151B"/>
                </a:solidFill>
                <a:latin typeface="Calibri"/>
              </a:rPr>
              <a:t>. A MB entrega a obrigação </a:t>
            </a:r>
            <a:r>
              <a:rPr sz="1500" b="1">
                <a:solidFill>
                  <a:srgbClr val="8F121B"/>
                </a:solidFill>
                <a:latin typeface="Calibri"/>
              </a:rPr>
              <a:t>e a inteligência</a:t>
            </a:r>
            <a:r>
              <a:rPr sz="1500" b="1">
                <a:solidFill>
                  <a:srgbClr val="14151B"/>
                </a:solidFill>
                <a:latin typeface="Calibri"/>
              </a:rPr>
              <a:t> para o dono crescer.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8F121B"/>
                </a:solidFill>
                <a:latin typeface="Calibri"/>
              </a:rPr>
              <a:t>MB Intelligence</a:t>
            </a:r>
            <a:r>
              <a:rPr sz="1000" b="0">
                <a:solidFill>
                  <a:srgbClr val="8A93A2"/>
                </a:solidFill>
                <a:latin typeface="Calibri"/>
              </a:rPr>
              <a:t> · Diferenciais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3A2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9B9BC"/>
                </a:solidFill>
                <a:latin typeface="Calibri"/>
              </a:rPr>
              <a:t>TECNOLOGIA &amp;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Construída como software moderno — segura por padrão.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B9BEC9"/>
                </a:solidFill>
                <a:latin typeface="Calibri"/>
              </a:rPr>
              <a:t>Aplicação web na nuvem, sem instalação. Funciona no computador e no celular, com padrões de segurança de banco digital.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5349240" cy="1481328"/>
          </a:xfrm>
          <a:prstGeom prst="roundRect">
            <a:avLst>
              <a:gd name="adj" fmla="val 7000"/>
            </a:avLst>
          </a:prstGeom>
          <a:solidFill>
            <a:srgbClr val="1C1E26"/>
          </a:solidFill>
          <a:ln w="12700">
            <a:solidFill>
              <a:srgbClr val="323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2587752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569463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Arquitetura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AAB0BC"/>
                </a:solidFill>
                <a:latin typeface="Calibri"/>
              </a:rPr>
              <a:t>Aplicação web (SPA) em JavaScript com Vite. Backend serverless em Node.js, na Vercel, com CDN global e deploy contínuo.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2331720"/>
            <a:ext cx="5349240" cy="1481328"/>
          </a:xfrm>
          <a:prstGeom prst="roundRect">
            <a:avLst>
              <a:gd name="adj" fmla="val 7000"/>
            </a:avLst>
          </a:prstGeom>
          <a:solidFill>
            <a:srgbClr val="1C1E26"/>
          </a:solidFill>
          <a:ln w="12700">
            <a:solidFill>
              <a:srgbClr val="323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1" y="2587752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1" y="2569463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Dados &amp; documentos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3008376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AAB0BC"/>
                </a:solidFill>
                <a:latin typeface="Calibri"/>
              </a:rPr>
              <a:t>PostgreSQL gerenciado no Supabase, isolamento por cliente (multi-tenant) com Row-Level Security. Documentos em Storage dedicado.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87368"/>
            <a:ext cx="5349240" cy="1481328"/>
          </a:xfrm>
          <a:prstGeom prst="roundRect">
            <a:avLst>
              <a:gd name="adj" fmla="val 7000"/>
            </a:avLst>
          </a:prstGeom>
          <a:solidFill>
            <a:srgbClr val="1C1E26"/>
          </a:solidFill>
          <a:ln w="12700">
            <a:solidFill>
              <a:srgbClr val="323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59" y="434340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32511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Segurança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764024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AAB0BC"/>
                </a:solidFill>
                <a:latin typeface="Calibri"/>
              </a:rPr>
              <a:t>Criptografia em trânsito (HTTPS/TLS), autenticação por tokens temporários, expiração de sessão, acesso por perfil e auditoria.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1" y="4087368"/>
            <a:ext cx="5349240" cy="1481328"/>
          </a:xfrm>
          <a:prstGeom prst="roundRect">
            <a:avLst>
              <a:gd name="adj" fmla="val 7000"/>
            </a:avLst>
          </a:prstGeom>
          <a:solidFill>
            <a:srgbClr val="1C1E26"/>
          </a:solidFill>
          <a:ln w="12700">
            <a:solidFill>
              <a:srgbClr val="323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73951" y="434340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1" y="432511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Privacidade &amp; LGPD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4764024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AAB0BC"/>
                </a:solidFill>
                <a:latin typeface="Calibri"/>
              </a:rPr>
              <a:t>Tratamento conforme a LGPD: finalidade definida, direito de acesso, correção e exclusão. Dados só com órgãos reguladores quando exigido.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98932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24181A"/>
          </a:solidFill>
          <a:ln w="12700">
            <a:solidFill>
              <a:srgbClr val="4A2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JavaScript · SPA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8256" y="598932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24181A"/>
          </a:solidFill>
          <a:ln w="12700">
            <a:solidFill>
              <a:srgbClr val="4A2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48256" y="598932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Vite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15184" y="5989320"/>
            <a:ext cx="690372" cy="310896"/>
          </a:xfrm>
          <a:prstGeom prst="roundRect">
            <a:avLst>
              <a:gd name="adj" fmla="val 50000"/>
            </a:avLst>
          </a:prstGeom>
          <a:solidFill>
            <a:srgbClr val="24181A"/>
          </a:solidFill>
          <a:ln w="12700">
            <a:solidFill>
              <a:srgbClr val="4A2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5989320"/>
            <a:ext cx="6903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Node.js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5284" y="5989320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24181A"/>
          </a:solidFill>
          <a:ln w="12700">
            <a:solidFill>
              <a:srgbClr val="4A2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5284" y="5989320"/>
            <a:ext cx="17785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Supabase · PostgreSQL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5989320"/>
            <a:ext cx="1545336" cy="310896"/>
          </a:xfrm>
          <a:prstGeom prst="roundRect">
            <a:avLst>
              <a:gd name="adj" fmla="val 50000"/>
            </a:avLst>
          </a:prstGeom>
          <a:solidFill>
            <a:srgbClr val="24181A"/>
          </a:solidFill>
          <a:ln w="12700">
            <a:solidFill>
              <a:srgbClr val="4A2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5989320"/>
            <a:ext cx="15453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Row-Level Security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8584" y="598932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4181A"/>
          </a:solidFill>
          <a:ln w="12700">
            <a:solidFill>
              <a:srgbClr val="4A2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5989320"/>
            <a:ext cx="10789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Vercel · CDN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47304" y="5989320"/>
            <a:ext cx="845820" cy="310896"/>
          </a:xfrm>
          <a:prstGeom prst="roundRect">
            <a:avLst>
              <a:gd name="adj" fmla="val 50000"/>
            </a:avLst>
          </a:prstGeom>
          <a:solidFill>
            <a:srgbClr val="24181A"/>
          </a:solidFill>
          <a:ln w="12700">
            <a:solidFill>
              <a:srgbClr val="4A2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4" y="5989320"/>
            <a:ext cx="8458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HTTPS/TLS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02852" y="598932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24181A"/>
          </a:solidFill>
          <a:ln w="12700">
            <a:solidFill>
              <a:srgbClr val="4A2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2852" y="598932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3DADA"/>
                </a:solidFill>
                <a:latin typeface="Calibri"/>
              </a:rPr>
              <a:t>LGPD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0D6D8"/>
                </a:solidFill>
                <a:latin typeface="Calibri"/>
              </a:rPr>
              <a:t>MB Intelligence</a:t>
            </a:r>
            <a:r>
              <a:rPr sz="1000" b="0">
                <a:solidFill>
                  <a:srgbClr val="9AA1AD"/>
                </a:solidFill>
                <a:latin typeface="Calibri"/>
              </a:rPr>
              <a:t> · Tecnologia &amp; segurança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1A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F121B"/>
                </a:solidFill>
                <a:latin typeface="Calibri"/>
              </a:rPr>
              <a:t>MANUAL DE MARCA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4151B"/>
                </a:solidFill>
                <a:latin typeface="Calibri"/>
              </a:rPr>
              <a:t>Identidade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F121B"/>
                </a:solidFill>
                <a:latin typeface="Calibri"/>
              </a:rPr>
              <a:t>LOGOTIPO</a:t>
            </a:r>
          </a:p>
        </p:txBody>
      </p:sp>
      <p:pic>
        <p:nvPicPr>
          <p:cNvPr id="6" name="Picture 5" descr="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3383280" cy="105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42900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Monograma MB (M vermelho, B branco) + assinatura “MB Assessoria Empresarial”. Usar sobre fundos escuros ou vermelho-marca.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830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F121B"/>
                </a:solidFill>
                <a:latin typeface="Calibri"/>
              </a:rPr>
              <a:t>TIPOGRAFIA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14884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151B"/>
                </a:solidFill>
                <a:latin typeface="Calibri"/>
              </a:rPr>
              <a:t>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718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Família única — títulos, interface e texto. Geométrica, legível e moderna.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4262D"/>
                </a:solidFill>
                <a:latin typeface="Calibri"/>
              </a:rPr>
              <a:t>Black · Bold · Semibold · Regular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F121B"/>
                </a:solidFill>
                <a:latin typeface="Calibri"/>
              </a:rPr>
              <a:t>PALETA DE 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1783080" cy="841248"/>
          </a:xfrm>
          <a:prstGeom prst="roundRect">
            <a:avLst>
              <a:gd name="adj" fmla="val 5000"/>
            </a:avLst>
          </a:prstGeom>
          <a:solidFill>
            <a:srgbClr val="5B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358384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151B"/>
                </a:solidFill>
                <a:latin typeface="Calibri"/>
              </a:rPr>
              <a:t>Vinho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2"/>
                </a:solidFill>
                <a:latin typeface="Calibri"/>
              </a:rPr>
              <a:t>#5B070B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86584" y="4480560"/>
            <a:ext cx="1783080" cy="841248"/>
          </a:xfrm>
          <a:prstGeom prst="roundRect">
            <a:avLst>
              <a:gd name="adj" fmla="val 5000"/>
            </a:avLst>
          </a:prstGeom>
          <a:solidFill>
            <a:srgbClr val="8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6312" y="5358384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151B"/>
                </a:solidFill>
                <a:latin typeface="Calibri"/>
              </a:rPr>
              <a:t>Marca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2"/>
                </a:solidFill>
                <a:latin typeface="Calibri"/>
              </a:rPr>
              <a:t>#8F121B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7" y="4480560"/>
            <a:ext cx="1783080" cy="841248"/>
          </a:xfrm>
          <a:prstGeom prst="roundRect">
            <a:avLst>
              <a:gd name="adj" fmla="val 5000"/>
            </a:avLst>
          </a:prstGeom>
          <a:solidFill>
            <a:srgbClr val="C5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5" y="5358384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151B"/>
                </a:solidFill>
                <a:latin typeface="Calibri"/>
              </a:rPr>
              <a:t>Claro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2"/>
                </a:solidFill>
                <a:latin typeface="Calibri"/>
              </a:rPr>
              <a:t>#C53B43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62471" y="4480560"/>
            <a:ext cx="1783080" cy="841248"/>
          </a:xfrm>
          <a:prstGeom prst="roundRect">
            <a:avLst>
              <a:gd name="adj" fmla="val 5000"/>
            </a:avLst>
          </a:prstGeom>
          <a:solidFill>
            <a:srgbClr val="E32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199" y="5358384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151B"/>
                </a:solidFill>
                <a:latin typeface="Calibri"/>
              </a:rPr>
              <a:t>Acento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2"/>
                </a:solidFill>
                <a:latin typeface="Calibri"/>
              </a:rPr>
              <a:t>#E32732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0415" y="4480560"/>
            <a:ext cx="1783080" cy="841248"/>
          </a:xfrm>
          <a:prstGeom prst="roundRect">
            <a:avLst>
              <a:gd name="adj" fmla="val 5000"/>
            </a:avLst>
          </a:prstGeom>
          <a:solidFill>
            <a:srgbClr val="141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0143" y="5358384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151B"/>
                </a:solidFill>
                <a:latin typeface="Calibri"/>
              </a:rPr>
              <a:t>Grafite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2"/>
                </a:solidFill>
                <a:latin typeface="Calibri"/>
              </a:rPr>
              <a:t>#14151B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59" y="4480560"/>
            <a:ext cx="1783080" cy="841248"/>
          </a:xfrm>
          <a:prstGeom prst="roundRect">
            <a:avLst>
              <a:gd name="adj" fmla="val 5000"/>
            </a:avLst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7" y="5358384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151B"/>
                </a:solidFill>
                <a:latin typeface="Calibri"/>
              </a:rPr>
              <a:t>Suave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2"/>
                </a:solidFill>
                <a:latin typeface="Calibri"/>
              </a:rPr>
              <a:t>#667085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F121B"/>
                </a:solidFill>
                <a:latin typeface="Calibri"/>
              </a:rPr>
              <a:t>TOM DE VOZ   </a:t>
            </a:r>
            <a:r>
              <a:rPr sz="1150" b="0">
                <a:solidFill>
                  <a:srgbClr val="5B6573"/>
                </a:solidFill>
                <a:latin typeface="Calibri"/>
              </a:rPr>
              <a:t>Direto, próximo e sem jargão. Falamos com o dono, não com o contador. Sóbrio e </a:t>
            </a:r>
            <a:r>
              <a:rPr sz="1150" b="1">
                <a:solidFill>
                  <a:srgbClr val="14151B"/>
                </a:solidFill>
                <a:latin typeface="Calibri"/>
              </a:rPr>
              <a:t>fosco, sem brilho</a:t>
            </a:r>
            <a:r>
              <a:rPr sz="1150" b="0">
                <a:solidFill>
                  <a:srgbClr val="5B6573"/>
                </a:solidFill>
                <a:latin typeface="Calibri"/>
              </a:rPr>
              <a:t> — confiança e cuidado.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8F121B"/>
                </a:solidFill>
                <a:latin typeface="Calibri"/>
              </a:rPr>
              <a:t>MB Intelligence</a:t>
            </a:r>
            <a:r>
              <a:rPr sz="1000" b="0">
                <a:solidFill>
                  <a:srgbClr val="8A93A2"/>
                </a:solidFill>
                <a:latin typeface="Calibri"/>
              </a:rPr>
              <a:t> · Identidade visual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3A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2743200"/>
            <a:ext cx="6949440" cy="6949440"/>
          </a:xfrm>
          <a:prstGeom prst="ellipse">
            <a:avLst/>
          </a:prstGeom>
          <a:solidFill>
            <a:srgbClr val="5B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0080"/>
            <a:ext cx="2377440" cy="44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743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9B9BC"/>
                </a:solidFill>
                <a:latin typeface="Calibri"/>
              </a:rPr>
              <a:t>VAMOS COMEÇAR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10896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Sua empresa merece enxergar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os próprios números.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0D6D8"/>
                </a:solidFill>
                <a:latin typeface="Calibri"/>
              </a:rPr>
              <a:t>Cadastre sua empresa e, em até 48 horas, a MB ativa seu portal e orienta os próximos passos. Sem fidelidade mínima — e cuidamos da migração se você já tem contador.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23560"/>
            <a:ext cx="4937760" cy="777240"/>
          </a:xfrm>
          <a:prstGeom prst="roundRect">
            <a:avLst>
              <a:gd name="adj" fmla="val 16000"/>
            </a:avLst>
          </a:prstGeom>
          <a:solidFill>
            <a:srgbClr val="8F121B"/>
          </a:solidFill>
          <a:ln>
            <a:noFill/>
          </a:ln>
          <a:effectLst/>
          <a:effectLst>
            <a:outerShdw blurRad="180000" dist="90000" dir="5400000" rotWithShape="0">
              <a:srgbClr val="1013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Fale com a MB no WhatsApp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3D9DB"/>
                </a:solidFill>
                <a:latin typeface="Calibri"/>
              </a:rPr>
              <a:t>Tire dúvidas e veja uma demonstração do portal.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3A2"/>
                </a:solidFill>
                <a:latin typeface="Calibri"/>
              </a:rPr>
              <a:t>MB Assessoria Empresarial — contabilidade e consultoria financeira para PMEs · Plataforma MB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